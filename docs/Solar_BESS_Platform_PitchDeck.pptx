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6638544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66960" cy="502920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☀  SOLAR + BESS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C8FF"/>
                </a:solidFill>
              </a:rPr>
              <a:t>A infraestrutura que o Brasil precisa 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D6E8"/>
                </a:solidFill>
              </a:rPr>
              <a:t>ACL + Data Centers estão reescrevendo o preço da energia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3246120"/>
            <a:ext cx="758952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80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R$ 387M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Captação alvo
até Ano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2191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1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R$ 1,2B – 1,8B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911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Valuation
alvo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22,6% a.a.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IRR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57616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1,33×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DSCR Sênior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D600"/>
                </a:solidFill>
              </a:rPr>
              <a:t>Rodada: Série A — Equity Tranche  |  Ticket mínimo: R$ 1,0M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29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A0C0"/>
                </a:solidFill>
              </a:rPr>
              <a:t>Maio 2026  |  Confidencial — Uso Restrito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Contexto: Dois Choques Simultâneos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O mercado de energia brasileiro está sendo reescrito agora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029200" cy="411480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CHOQUE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ACL + MP 1304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300.000 empresas migrarão para o ACL até 2028 (volume)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MP 1304 criou repricing imediato: preços sobem AGORA para quem já está no ACL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PLD pode variar de R$ 0 a R$ 2.000/MWh — sem teto efetivo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Efeito duplo: quem migrou sente a dor; quem vai migrar vê o futuro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463040"/>
            <a:ext cx="5029200" cy="411480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F"/>
                </a:solidFill>
              </a:rPr>
              <a:t>CHOQUE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87451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BOOM DE DATA CENTERS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R$ 150B+ em data centers anunciados para o Brasil até 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108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IA global consome energia em ritmo sem precedente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794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+2–3 GW de nova capacidade → +15–25 TWh/ano (+2,5–4% do consumo BR)*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480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Grade não acompanha → preços sobem para todos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41848" y="3108960"/>
            <a:ext cx="896112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1848" y="3017520"/>
            <a:ext cx="896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5742432"/>
            <a:ext cx="3959352" cy="6400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5779008"/>
            <a:ext cx="3959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RESULTADO: PREÇO DA ENERGIA SOBE PARA TODOS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Choque 1: ACL — Migração + Repricing pelo MP 1304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Não é só quem vai migrar: quem já está no mercado livre sente a pressão agora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577840" cy="2148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35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VETOR 1 — VOLUME DE MIGRAÇÃO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1508760" cy="731520"/>
          </a:xfrm>
          <a:prstGeom prst="rect">
            <a:avLst/>
          </a:prstGeom>
          <a:solidFill>
            <a:srgbClr val="102A50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240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&gt;1 MW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1874519"/>
            <a:ext cx="1508760" cy="731520"/>
          </a:xfrm>
          <a:prstGeom prst="rect">
            <a:avLst/>
          </a:prstGeom>
          <a:solidFill>
            <a:srgbClr val="102A50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240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&gt;500 kW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103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59935" y="1874519"/>
            <a:ext cx="1508760" cy="731520"/>
          </a:xfrm>
          <a:prstGeom prst="rect">
            <a:avLst/>
          </a:prstGeom>
          <a:solidFill>
            <a:srgbClr val="102A50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7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FF"/>
                </a:solidFill>
              </a:rPr>
              <a:t>2028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3087" y="2240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6974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D600"/>
                </a:solidFill>
              </a:rPr>
              <a:t>300.000+ empresas buscando hedge até 2028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5486400" cy="2148840"/>
          </a:xfrm>
          <a:prstGeom prst="rect">
            <a:avLst/>
          </a:prstGeom>
          <a:solidFill>
            <a:srgbClr val="1E355A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4356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VETOR 2 — MP 1304: REPRICING IMEDIATO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89280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Mudou a mecânica de precificação do ACL: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23113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elimina subsídios que amorteciam o PLD para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69463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consumidores no mercado livre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07791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→ Quem já migrou paga mais AGORA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461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→ Quem ainda vai migrar vê o futuro no bolso alheio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84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Repricing = urgência imediata, não só em 2028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1945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3712463"/>
            <a:ext cx="208483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Dimensão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65760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15184" y="3712463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ACR (regulado)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57600"/>
            <a:ext cx="25603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1183" y="3712463"/>
            <a:ext cx="24505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ACL sem MP 1304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3657600"/>
            <a:ext cx="43891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61504" y="3712463"/>
            <a:ext cx="42793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ACL com MP 1304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041648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408736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Preço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404164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15184" y="408736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Tarifa regulada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41648"/>
            <a:ext cx="25603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183" y="4087368"/>
            <a:ext cx="24505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PLD de mercado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4041648"/>
            <a:ext cx="4389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61504" y="4087368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PLD + fim de subsídios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389120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4434840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Exposição ao pico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438912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5184" y="443484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Limitada pela ANEEL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389120"/>
            <a:ext cx="25603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01183" y="4434840"/>
            <a:ext cx="24505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(paga PLD do dia)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0" y="4389120"/>
            <a:ext cx="4389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61504" y="4434840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+ maior base de custo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736592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" y="478231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Impacto de seca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0" y="473659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15184" y="478231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Amortecido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736592"/>
            <a:ext cx="25603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01183" y="4782312"/>
            <a:ext cx="24505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Direto no bolso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06640" y="4736592"/>
            <a:ext cx="4389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61504" y="4782312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Direto + sem colchão regulatório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084064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0624" y="512978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Risco para empresa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60320" y="508406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15184" y="512978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5084064"/>
            <a:ext cx="25603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01183" y="5129784"/>
            <a:ext cx="24505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 — volátil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06640" y="5084064"/>
            <a:ext cx="4389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61504" y="5129784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CRÍTICO — repricing estrutural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5989320"/>
            <a:ext cx="11430000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3A"/>
                </a:solidFill>
              </a:rPr>
              <a:t>◉  Solar + BESS BOT: contrato de 15 anos com tarifa travada = proteção total contra migração compulsória E repricing do MP 1304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Choque 2: O Boom de Data Centers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 IA global está consumindo a rede elétrica brasileira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Empresa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Investimento anunciado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417320"/>
            <a:ext cx="16459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4064" y="1472184"/>
            <a:ext cx="15361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Prazo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9806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R$ 11B (USD 2,1B)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801368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184708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2024–2026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9806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R$ 5B+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148840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064" y="219456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2024–2026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Amazon AWS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9806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R$ 4B+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2496312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4064" y="254203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Meta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R$ 3B+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2843784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4064" y="2889504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Oracle, IBM e outros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9806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R$ 8B+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3191256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323697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2025–2030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9806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R$ 150B+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3538728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84064" y="35844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Até 2030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1417320"/>
            <a:ext cx="466344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0" y="15087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Impacto na rede elétrica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201168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DC médio = 50–200 MW de potência contínua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257860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Expansão 2024–2030: +2–3 GW de nova capacidade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314553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+15–25 TWh/ano de consumo adicional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37124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+2,5–4% do consumo elétrico anual do Brasil*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427939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8C00"/>
                </a:solidFill>
              </a:rPr>
              <a:t>Rede de distribuição NÃO acompanha esse ritmo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0" y="484632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8C00"/>
                </a:solidFill>
              </a:rPr>
              <a:t>→ Escassez localizada + filas + preços 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548640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A0C0"/>
                </a:solidFill>
              </a:rPr>
              <a:t>* Estimativa: 2–3 GW × 8.760h × 85% util. = 15–22 TWh/ano  |  Verificar: EPE — Plano Decenal de Energia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754880"/>
            <a:ext cx="6217920" cy="1417320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482803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Data centers como clientes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2120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Precisam de 24/7 confiável + metas ESG 100% renováveis até 2030
Solar + BESS = geração local + backup integrado
Ticket 3–10× maior que indústria tradicional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3A"/>
                </a:solidFill>
              </a:rPr>
              <a:t>◉  Cada GW de data center instalado no Brasil aumenta o preço da energia para todos — e aumenta o valor do nosso produto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Convergência: Uma Janela Única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ACL + Data Centers = tempestade perfeita para Solar + BESS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474720" cy="502920"/>
          </a:xfrm>
          <a:prstGeom prst="rect">
            <a:avLst/>
          </a:prstGeom>
          <a:solidFill>
            <a:srgbClr val="FF8C0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F3A"/>
                </a:solidFill>
              </a:rPr>
              <a:t>2026 — AGORA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Custo BESS em queda
Pipeline limpo
Vendemos o futuro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Anúncios R$ 50B+
Obras iniciando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474720" cy="50292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2027–2028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ACL pleno: 300k empresas
buscam hedge urgente
Nosso argumento mais forte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Obras em curso
+DCs operando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417320"/>
            <a:ext cx="3474720" cy="502920"/>
          </a:xfrm>
          <a:prstGeom prst="rect">
            <a:avLst/>
          </a:prstGeom>
          <a:solidFill>
            <a:srgbClr val="102A50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2029–2030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Escala plena
Motor Transfer + FIDC
Portfólio maduro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+2–3 GW instalados
+2,5–4% consumo BR*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709160"/>
            <a:ext cx="11430000" cy="1508760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773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"Não vendemos eficiência energética.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102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8C00"/>
                </a:solidFill>
              </a:rPr>
              <a:t>Vendemos certeza de preço num mercado que já perdeu essa certeza — e vai piorar."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MP 1304 + migração compulsória ACL + boom de data centers = três forças simultâneas pressionando o preço para cima.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8338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O cliente que assina o BOT hoje compra 15 anos de imunidade a esse cenário.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Solução: Solar + BESS via Modelo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Geração + Armazenamento + Financiamento — sem CAPEX para o cliente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4206240"/>
          </a:xfrm>
          <a:prstGeom prst="rect">
            <a:avLst/>
          </a:prstGeom>
          <a:solidFill>
            <a:srgbClr val="1E355A"/>
          </a:solidFill>
          <a:ln w="10160">
            <a:solidFill>
              <a:srgbClr val="8AA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C4C"/>
                </a:solidFill>
              </a:rPr>
              <a:t>CLIENTE NO ACL (sem solução)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Preço varia com PLD (R$ 0–2.000/MWh)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2432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Exposto a picos de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826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Sem geração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106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CAPEX necessário para instalar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99431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Risco de crédito com fornecedor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417320"/>
            <a:ext cx="5394960" cy="42062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53"/>
                </a:solidFill>
              </a:rPr>
              <a:t>CLIENTE COM BOT SOLAR + BESS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Preço fixo + IPCA por 15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2432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BESS nivela pico → sem multa de demanda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26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Solar gera 180 MWh/mês no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4106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Zero CAPEX — paga mensalidade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99431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Contrato com SPE dedicada + garantias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01752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8C00"/>
                </a:solidFill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42432"/>
            <a:ext cx="11430000" cy="804672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01.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Instalamos Solar+BESS
(R$ 6,2M / projeto)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59436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02. OPERATE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Operamos 15 anos
Cliente paga R$110k/mês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9436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03. TRANSFER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Venda SPE madura
10× EBITDA = R$12,5M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Dois segmentos, uma solução — o maior mercado de Solar+BESS da América Latina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200400" cy="292608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00"/>
                </a:solidFill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R$ 420B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C&amp;I + Data Centers
(50.000+ empresas)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965960"/>
            <a:ext cx="2560320" cy="242316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05740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23774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R$ 95B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3240"/>
            <a:ext cx="23774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Perfil BOT: &gt;500kW
+ data centers tier III/IV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468880"/>
            <a:ext cx="1920240" cy="19202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560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53"/>
                </a:solidFill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R$ 2,3B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5661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Alvo 7 anos:
52 projetos implantados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463040"/>
            <a:ext cx="6949440" cy="5029200"/>
          </a:xfrm>
          <a:prstGeom prst="rect">
            <a:avLst/>
          </a:prstGeom>
          <a:solidFill>
            <a:srgbClr val="1E355A"/>
          </a:solidFill>
          <a:ln w="12700">
            <a:solidFill>
              <a:srgbClr val="102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536192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Drivers de crescimento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057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MP 1304: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057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Repricing imediato no ACL — quem migrou paga mais agora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576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ACL 2028: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71576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300.000 empresas migram compulsoriamente — hedge urgente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3741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Data Centers: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374136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R$ 150B+ → +2–3 GW instalados → +2,5–4% do consumo anual BR*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03250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Marco Legal GD: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032504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Lei 14.300/2022 — estabilidade jurídica de 25 anos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69087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Custo BESS: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9087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–15%/ano → instalar hoje = melhor spread histórico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349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ESG corporativo: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53492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Meta 100% renováveis até 2030 — DCs como clientes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Modelo de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Receita recorrente de longo prazo + Motor Transfer (reciclagem de ativos)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02920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Por projeto maduro (mês 37+)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Receita BOT (mensalidade)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9385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R$ 110.062/mês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O&amp;M — Solar + BESS (IA plena)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5054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4C4C"/>
                </a:solidFill>
              </a:rPr>
              <a:t>– R$ 5.750/mês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723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EBITDA por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07238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C853"/>
                </a:solidFill>
              </a:rPr>
              <a:t>R$ 104.312/mês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02736"/>
            <a:ext cx="4663440" cy="27432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Empresa retém (10%)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42062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C8FF"/>
                </a:solidFill>
              </a:rPr>
              <a:t>R$ 10.431/mês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731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Investidores (90%)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773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D600"/>
                </a:solidFill>
              </a:rPr>
              <a:t>R$ 93.881/mês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26280"/>
            <a:ext cx="5029200" cy="1645920"/>
          </a:xfrm>
          <a:prstGeom prst="rect">
            <a:avLst/>
          </a:prstGeom>
          <a:solidFill>
            <a:srgbClr val="102A50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9028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O&amp;M evolução (por projeto):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560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Meses 1–36: R$ 12.500/mês  →  Mês 37+: R$ 5.750/mês  (–54% com 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32180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Degradação solar –0,5%/ano | BESS –2,0%/ano | IPCA +5% compensa com folga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417320"/>
            <a:ext cx="603504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14813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Motor Transfer — reciclagem do ativo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011680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2057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Preço de venda (10× EBITDA anual)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057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R$ 12.517.440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670048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27157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(–) Buyout investidores ao NPV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7157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– R$ 5.592.952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3328416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37413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(–) Custos de transação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3741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– R$ 200.000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3986784"/>
            <a:ext cx="5486400" cy="5669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403250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</a:rPr>
              <a:t>RECEITA LÍQUIDA / DEAL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03250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B1F3A"/>
                </a:solidFill>
              </a:rPr>
              <a:t>R$ 6.724.488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63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A0C0"/>
                </a:solidFill>
              </a:rPr>
              <a:t>Buyout detalhado: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0109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Sênior: R$4,07M  |  Mezanino: R$0,83M  |  Equity: R$0,70M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949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Ano 7: 20 deals × R$ 6,7M = R$ 134,5M de receita líquida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Crescimento do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Ramp-up de 7 anos — Solar + BESS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400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517904"/>
            <a:ext cx="5303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463040"/>
            <a:ext cx="8229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517904"/>
            <a:ext cx="7132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Novos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8229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83664" y="1517904"/>
            <a:ext cx="7132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463040"/>
            <a:ext cx="21031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1517904"/>
            <a:ext cx="19933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Rec. Recorrente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79" y="1463040"/>
            <a:ext cx="24688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3" y="1517904"/>
            <a:ext cx="23591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Motor Transfer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146304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8623" y="151790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7088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1892807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847088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1892807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1847088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83664" y="1892807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1847088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1892807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79" y="1847088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9743" y="1892807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59" y="184708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3" y="1892807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194560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240279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2194560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" y="224027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2194560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83664" y="224027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2194560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6624" y="2240279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R$ 9,4M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79" y="2194560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9743" y="2240279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3759" y="219456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3" y="2240279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R$ 9,4M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542032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258775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" y="2542032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" y="258775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0" y="2542032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258775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2542032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2587752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R$ 18,7M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79" y="2542032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9743" y="2587752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R$ 13,4M 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59" y="254203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8623" y="258775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R$ 32,1M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889504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2935224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5840" y="2889504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" y="29352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0" y="2889504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83664" y="29352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651760" y="2889504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6624" y="2935224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R$ 28,1M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79" y="2889504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9743" y="2935224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R$ 33,5M (5)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59" y="288950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78623" y="293522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R$ 61,6M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236976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" y="3282696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236976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" y="32826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0" y="3236976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83664" y="32826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51760" y="3236976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06624" y="3282696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R$ 37,5M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79" y="3236976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9743" y="3282696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R$ 80,7M (12)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23759" y="323697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278623" y="328269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R$ 118,2M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584448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0624" y="363016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3584448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60704" y="36301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28800" y="3584448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883664" y="36301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51760" y="3584448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6624" y="3630168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R$ 44,0M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54879" y="3584448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09743" y="3630168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R$ 94,1M (14)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23759" y="358444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278623" y="363016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R$ 138,1M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931920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0624" y="397764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" y="3931920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0704" y="397764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828800" y="3931920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883664" y="397764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51760" y="3931920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06624" y="3977640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R$ 48,7M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79" y="3931920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9743" y="3977640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R$ 134,5M (20)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23759" y="3931920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78623" y="397764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R$ 183,2M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6199751"/>
            <a:ext cx="1234440" cy="1816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5943719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R$3M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30552" y="6156926"/>
            <a:ext cx="1234440" cy="60993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130552" y="590089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R$9M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758184" y="6009634"/>
            <a:ext cx="1234440" cy="208285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758184" y="575360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R$32M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85816" y="5818219"/>
            <a:ext cx="1234440" cy="3997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85816" y="556218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R$62M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13448" y="5450962"/>
            <a:ext cx="1234440" cy="766957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013448" y="519493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R$118M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41080" y="5321837"/>
            <a:ext cx="1234440" cy="89608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41080" y="506580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R$138M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68712" y="5029200"/>
            <a:ext cx="1234440" cy="1188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268712" y="4773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R$183M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6236208"/>
            <a:ext cx="11430000" cy="27432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2819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A0C0"/>
                </a:solidFill>
              </a:rPr>
              <a:t>EBITDA Total por Ano (R$ M)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Estrutura de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3 Tranches com Waterfall protegido — R$ 6,2M por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548640"/>
          </a:xfrm>
          <a:prstGeom prst="rect">
            <a:avLst/>
          </a:prstGeom>
          <a:solidFill>
            <a:srgbClr val="102A50"/>
          </a:solidFill>
          <a:ln w="6350">
            <a:solidFill>
              <a:srgbClr val="8AA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8"/>
                </a:solidFill>
              </a:rPr>
              <a:t>EBITDA maduro: R$ 104.312/mês   →   Para investidores (90%): R$ 93.881/mês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</a:rPr>
              <a:t>1ª PRIORIDADE — SÊNIOR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762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75% do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R$ 4.650.000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R$ 65.875/mês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9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17,0% a.a. fixo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399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DSCR 1,33×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27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Recebíveis BOT + Penhor SPE + Conta Reserva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2ª PRIORIDADE — MEZANINO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5478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15% do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R$ 930.000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R$ 13.950/mês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9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18,0% a.a. fixo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399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399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DSCR S+M 1,10×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988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Subordinado ao Sênior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463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194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3ª PRIORIDADE — EQUITY (Performance)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9194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10% do capital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R$ 620.000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R$7.981→R$14.056/mês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79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15,4%→27,2% a.a.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399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IRR 22,6% | 3,73×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70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Residual — captura IA + ACL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46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D600"/>
                </a:solidFill>
              </a:rPr>
              <a:t>O Equity é a tranche do cenário ACL: toda alta de tarifa acima do IPCA vai diretamente para o residual — IRR 22,6% é o piso conservador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Retornos por Tranche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Piso conservador (tarifa flat) + upside real do cenário ACL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200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3090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Métrica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417320"/>
            <a:ext cx="27432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472184"/>
            <a:ext cx="26334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Sênior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Mezanino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417320"/>
            <a:ext cx="3200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0224" y="1472184"/>
            <a:ext cx="3090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84708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Capital investido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801368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84708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R$ 4.650.000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R$ 930.000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801368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0224" y="184708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R$ 620.000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48840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219456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fase inicial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2148840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219456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 a.a.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 a.a.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2148840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0224" y="219456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15,4% a.a.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496312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54203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fase madura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2496312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21024" y="25420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 a.a.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422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 a.a.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60" y="2496312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0224" y="254203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27,2% a.a.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43784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889504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IRR 15 anos (base)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2843784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21024" y="288950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~16,8%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~17,8%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2843784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0224" y="2889504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22,6%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91256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3236976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Múltiplo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66160" y="3191256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21024" y="3236976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2,55×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2,70×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3191256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0224" y="3236976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3,73×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38728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3584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médio 15 anos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3538728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21024" y="358444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95360" y="3538728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50224" y="3584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24,9%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86200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" y="393192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vs CDI+3% (16,25%)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66160" y="3886200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21024" y="393192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+0,55pp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886200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93192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+1,55pp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95360" y="3886200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50224" y="393192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+6,35pp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233672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624" y="427939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Upside ACL (+1pp tar.)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66160" y="4233672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21024" y="427939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Nenhum (fixo)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4233672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427939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Nenhum (fixo)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4233672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50224" y="427939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R$13,2k/proj/ano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715000"/>
            <a:ext cx="11430000" cy="77724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" y="57607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53"/>
                </a:solidFill>
              </a:rPr>
              <a:t>Benchmark: CDI ~13,25%  |  CDI+3% = 16,25%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6080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Todas as tranches superam CDI+3% no cenário base conservador.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59161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C00"/>
                </a:solidFill>
              </a:rPr>
              <a:t>No cenário ACL forte (+3pp/ano): IRR Equity → 27,8%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Estrutura FIDC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Único FIDC de infraestrutura Solar + BESS no Brasil — CVM 175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029200" cy="640080"/>
          </a:xfrm>
          <a:prstGeom prst="rect">
            <a:avLst/>
          </a:prstGeom>
          <a:solidFill>
            <a:srgbClr val="1E355A"/>
          </a:solidFill>
          <a:ln w="1016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INVESTIDORES INSTITUCIONAIS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5029200" cy="100584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C00"/>
                </a:solidFill>
              </a:rPr>
              <a:t>FIDC SOLAR + BESS INFRA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249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CVM 175 — Infraestrutura  |  Lastro: recebíveis BOT 15 anos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47872"/>
            <a:ext cx="233172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565C0"/>
                </a:solidFill>
              </a:rPr>
              <a:t>Cota Sênior
17% a.a. | Rating A–AA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3547872"/>
            <a:ext cx="233172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3621024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Cota Mezanino
18% a.a. | Rating BBB–A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754880"/>
            <a:ext cx="5029200" cy="9144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2803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SPEs — Recebíveis BOT (Solar+BESS)
R$ 110k/mês por SPE × 15 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5029200" cy="658368"/>
          </a:xfrm>
          <a:prstGeom prst="rect">
            <a:avLst/>
          </a:prstGeom>
          <a:solidFill>
            <a:srgbClr val="102A50"/>
          </a:solidFill>
          <a:ln w="1270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4C4C"/>
                </a:solidFill>
              </a:rPr>
              <a:t>Cota Subordinada — retida pela empresa (First-loss | Equity 27,2% maduro)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031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337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623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463040"/>
            <a:ext cx="146304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3" y="1517904"/>
            <a:ext cx="135331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FIDC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1463040"/>
            <a:ext cx="914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1517904"/>
            <a:ext cx="804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463040"/>
            <a:ext cx="13716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1517904"/>
            <a:ext cx="12618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Projetos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46304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151790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Captação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1847088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15583" y="1892807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1847088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8624" y="1892807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1847088"/>
            <a:ext cx="13716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024" y="1892807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184708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64624" y="1892807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R$ 43,4M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2194560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15583" y="2240279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2194560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8624" y="2240279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2194560"/>
            <a:ext cx="13716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93024" y="2240279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219456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4624" y="2240279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R$ 62,0M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0720" y="2542032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15583" y="2587752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III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2542032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8624" y="2587752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38160" y="2542032"/>
            <a:ext cx="13716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93024" y="258775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60" y="254203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64624" y="258775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R$ 62,0M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0" y="2889504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15583" y="2935224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IV+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2889504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78624" y="2935224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38160" y="2889504"/>
            <a:ext cx="13716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3024" y="2935224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Rotativo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09760" y="288950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64624" y="293522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Trimestral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60720" y="4069080"/>
            <a:ext cx="6035040" cy="2514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0" y="4133087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Proteções ao investidor: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0" y="45720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Cotas Sênior/Mezanino têm prioridade absoluta no waterfall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0" y="49560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Empresa retém Cota Sub. (First-loss) — skin in the game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3400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Conta reserva: 3 meses de serviço de dívida por FIDC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57241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Auditoria independente semestral dos SPEs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0" y="61081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Seguro patrimonial solar + BESS (cobertura total)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Vantagens Competitivas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Por que somos a infraestrutura do cenário ACL — e não mais um integrador solar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8C0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Produto feito para a era do ACL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Único produto que imuniza o cliente da volatilidade do mercado livre por 15 anos.
Solar puro não resolve (sem BESS o pico custa caro no ACL). BESS puro não resolve (sem solar, carrega com tarifa volátil).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Único FIDC Solar+BESS no Brasil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200–300 bps de custo de capital abaixo de concorrentes. Escala R$100–200M/trimestre sem negociação individual por projeto.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53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Plataforma IA com dados exclusivos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Telemetria de 50+ sistemas após Ano 7. O&amp;M –54% (R$12.500 → R$5.750). Concorrentes não replicam sem anos de dados reais C&amp;I.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53949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0690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600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87368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WALE de 12 anos — ativo estratégico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572000"/>
            <a:ext cx="51755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Contratos de 15 anos = barreira de saída para clientes. Utilities preferem COMPRAR o portfólio a replicar o modelo.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977639"/>
            <a:ext cx="53949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C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40690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80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087368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Pipeline data center (Ano 4+)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4572000"/>
            <a:ext cx="51755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Ticket 3–10× maior. ESG exige renováveis. Confiabilidade exige storage. Entramos como fornecedor de infra, não como vendedor.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Funil Comercial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ACL como acelerador orgânico de vendas — LTV/CAC de 114×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37076" y="1463040"/>
            <a:ext cx="41148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74236" y="1508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FF"/>
                </a:solidFill>
              </a:rPr>
              <a:t>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7236" y="1536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Leads/ano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7236" y="19385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Empresas migrando ACL + DCs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8716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4276" y="2697480"/>
            <a:ext cx="32004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1436" y="27432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FF"/>
                </a:solidFill>
              </a:rPr>
              <a:t>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4436" y="2770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Qualificados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4436" y="3172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7216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0036" y="3931920"/>
            <a:ext cx="246888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7196" y="39776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196" y="40050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Propostas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0196" y="44074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9560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80076" y="5166360"/>
            <a:ext cx="18288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7236" y="52120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53"/>
                </a:solidFill>
              </a:rPr>
              <a:t>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236" y="5239512"/>
            <a:ext cx="365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Contratos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0236" y="5641848"/>
            <a:ext cx="3657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75% | Ciclo 75 dias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463040"/>
            <a:ext cx="4114800" cy="502920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153619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Unit Economics / cliente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79" y="205740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1031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1031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R$ 24.444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83464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28803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LTV (15 anos)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8803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R$ 2.783.280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611880"/>
            <a:ext cx="3749039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3657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</a:rPr>
              <a:t>LTV / CAC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36576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B1F3A"/>
                </a:solidFill>
              </a:rPr>
              <a:t>114×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438912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92440" y="44348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Payback do CAC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44348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&lt; 3 meses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516636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521207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Margem bruta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5212079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94,8%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58978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FF"/>
                </a:solidFill>
              </a:rPr>
              <a:t>ACL cria urgência orgânica — o mercado
qualifica o cliente antes de nos ligar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Financeiros Consolidados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P&amp;L projetado — 7 anos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400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5303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417320"/>
            <a:ext cx="20116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472184"/>
            <a:ext cx="19019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Receita Total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20116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2384" y="1472184"/>
            <a:ext cx="19019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41732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47218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Margem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146304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1472184"/>
            <a:ext cx="135331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FCL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01368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184708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1801368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184708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R$ 5,6M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801368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2384" y="184708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R$ 2,2M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801368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064" y="184708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801368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1847088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R$ 16,3M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48840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19456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2148840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219456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R$ 15,0M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148840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72384" y="219456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R$ 7,5M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2148840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4064" y="21945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148840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3" y="2194560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R$ 40,5M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496312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254203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2496312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0704" y="2542032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R$ 44,5M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2496312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72384" y="2542032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R$ 31,0M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249631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5420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496312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3" y="2542032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R$ 25,7M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843784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2889504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2843784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" y="2889504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R$ 82,0M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2843784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72384" y="2889504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R$ 58,1M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284378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288950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843784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72783" y="2889504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R$ 12,4M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191256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" y="3236976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5840" y="3191256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0704" y="3236976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R$ 153,0M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3191256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72384" y="3236976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R$ 115,4M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0" y="319125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3236976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191256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3" y="3236976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R$ 68,9M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538728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" y="358444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538728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" y="358444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R$ 205,0M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3538728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72384" y="358444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R$ 156,7M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0" y="353872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358444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76%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3538728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72783" y="3584448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R$ 89,2M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0624" y="393192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05840" y="3886200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60704" y="393192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R$ 261,5M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17520" y="3886200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072384" y="393192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R$ 203,2M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0" y="388620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393192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78%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17920" y="3886200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72783" y="3931920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R$ 134,5M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46720" y="1417320"/>
            <a:ext cx="3749039" cy="32004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0" y="1481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CAPEX por projeto (R$ 6,2M)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0" y="199339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Painéis solares + inversores (~2 MWp)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61320" y="199339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38560" y="1993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45%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263347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Sistema BESS Li-ion (~1 MWh)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263347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R$ 2,4M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338560" y="26334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39%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327355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Instalação civil + elétrica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61320" y="327355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R$ 0,62M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338560" y="32735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10%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29600" y="3913631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SCADA + comissionamento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3913631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R$ 0,38M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338560" y="3913631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6%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46720" y="4828032"/>
            <a:ext cx="3749039" cy="164592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29600" y="4892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Capital total captado 7 anos: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523036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R$ 387M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29600" y="5806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C853"/>
                </a:solidFill>
              </a:rPr>
              <a:t>Break-even: Ano 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Valuation &amp;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IPO ou M&amp;A estratégico — Ano 7  |  Valuation-alvo: R$ 1,2B – R$ 1,8B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0175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29077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Tipo de receita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79" y="1417320"/>
            <a:ext cx="914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38144" y="1472184"/>
            <a:ext cx="804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Múltiplo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17320"/>
            <a:ext cx="16459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52543" y="1472184"/>
            <a:ext cx="15361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 Ano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599" y="1417320"/>
            <a:ext cx="15544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3" y="1472184"/>
            <a:ext cx="14447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EV Parcial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84708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Fee recorrente BOT (contratos 15a)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79" y="1801368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8144" y="1847088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801368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3" y="184708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R$ 27,8M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599" y="1801368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3" y="184708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R$ 417M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48840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2194560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Serviços O&amp;M + SCADA terceiros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79" y="2148840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38144" y="2194560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12×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2148840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3" y="219456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R$ 20,0M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599" y="2148840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8463" y="219456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R$ 240M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496312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542032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BESS ancilares CCEE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79" y="2496312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38144" y="2542032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79" y="2496312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52543" y="254203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R$ 20,0M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599" y="2496312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8463" y="2542032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R$ 200M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43784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889504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Plataforma IA Solar+BESS (SaaS)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79" y="2843784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38144" y="2889504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2843784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3" y="2889504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R$ 8,0M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599" y="2843784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98463" y="2889504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R$ 160M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91256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3236976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Motor Transfer (recorrente 20 deals)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79" y="3191256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38144" y="3236976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79" y="3191256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52543" y="323697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R$ 134,5M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599" y="3191256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98463" y="323697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R$ 807M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38728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358444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EV Total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83279" y="3538728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38144" y="3584448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4297679" y="3538728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52543" y="35844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5943599" y="3538728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98463" y="35844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 R$ 1,82B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86200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" y="3931920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Consenso (–20% negociação)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83279" y="3886200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38144" y="3931920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4297679" y="3886200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52543" y="393192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5943599" y="3886200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98463" y="393192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R$ 1,2B – R$ 1,8B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1417320"/>
            <a:ext cx="4023360" cy="507492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46720" y="14813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Compradores estratégicos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55279" y="201168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9244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Utility nacional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Engie, EDP, CPFL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6960" y="2194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12–15×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26700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52 clientes C&amp;I + 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01752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Utility internacional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3383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Enel X, Iberdrola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66960" y="3200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11–14×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36758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Entrada no mercado BR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955279" y="402336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Fundo infra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9244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Brookfield, Pátria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66960" y="4206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9–12×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92440" y="46817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Cash flow longo prazo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955279" y="502920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924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 energético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9244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BTG Energia, Kinea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66960" y="52120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10–12×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92440" y="56875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Crescimento + PI 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6035040"/>
            <a:ext cx="11430000" cy="475488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807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D600"/>
                </a:solidFill>
              </a:rPr>
              <a:t>No cenário ACL: portfólio com tarifa travada é ativo escasso → utilities pagam prêmio por clientes imunes ao PLD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Uso dos Recursos &amp;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Série A — Equity Tranche  |  R$ 6,2M por projeto  |  Mínimo R$ 1,0M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520440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2026 — AGORA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Custo BESS em queda
Pipeline limpo
Instalamos 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487168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417320"/>
            <a:ext cx="3520440" cy="5029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2027–2028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ACL pleno: urgência orgânica
Nosso argumento mais forte
Colhemos aqui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2487168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417320"/>
            <a:ext cx="3520440" cy="5029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2029–2030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7304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Escala plena
Motor Transfer + FIDC
Saída estratégica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66160"/>
            <a:ext cx="5394960" cy="292608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301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Uso dos recursos — 3 projetos piloto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R$ 8,4M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133087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Painéis solares + inversores (3 × ~2 MWp)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902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R$ 7,2M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5902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Sistemas BESS Li-ion (3 × ~1 MWh)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474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R$ 1,9M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0474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Instalação civil + elétrica + SCADA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R$ 0,5M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55046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Capital de giro pré-FIDC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618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R$ 0,6M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9618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Estruturação FIDC I + jurídico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566160"/>
            <a:ext cx="5669280" cy="292608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63016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Milestones Ano 1–2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1148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3 contratos BOT assinados (pipeline: 8 qualificados)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526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3 SPEs constituídas — solar + BESS instalados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377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Plataforma IA v1.0 com telemetria em tempo real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492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FIDC I aprovado CVM (Q3 Ano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76072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Rating BBB+ cotas Sênior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61722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1 data center no pipeline para Ano 3+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446520"/>
            <a:ext cx="11430000" cy="4114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922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3A"/>
                </a:solidFill>
              </a:rPr>
              <a:t>Pipeline: 8 clientes qualificados aguardando assinatura  |  Time completo formado  |  Capital é o único insumo faltante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APÊNDICE — Análise de Sensibilidade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A0C0"/>
                </a:solidFill>
              </a:rPr>
              <a:t>IRR Equity vs. variáveis-chave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474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35024"/>
            <a:ext cx="33649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Cenário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280160"/>
            <a:ext cx="3474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95344" y="1335024"/>
            <a:ext cx="33649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Variável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280160"/>
            <a:ext cx="21945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1335024"/>
            <a:ext cx="208483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IRR Equity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7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170992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1664207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95344" y="170992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Tarifa flat (IPCA)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664207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0064" y="170992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22,6%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79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05739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leve (+1pp/ano)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2011679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5344" y="205739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Alta tarifa moderada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011679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4" y="2057399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24,1%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359152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240487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forte (+3pp/ano)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2359152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5344" y="240487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Volatilidade ACL + pressão DCs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359152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40487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27,8%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706624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752344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Irradiação +5%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706624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5344" y="2752344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Projetos Norte/Nordeste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706624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0064" y="275234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23,2%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54096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309981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O&amp;M +20%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0" y="3054096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5344" y="309981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Custo maior que previsto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3054096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70064" y="3099815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21,2%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401568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3447287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Maturidade IA 4 anos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3401568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5344" y="3447287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IA mais lenta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3401568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70064" y="3447287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20,0%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49039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379475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Motor Transfer 8×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3749039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5344" y="379475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Múltiplo menor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749039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70064" y="3794759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21,4%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096512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414223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Stress combinado (pior caso)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4096512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5344" y="414223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Todas variáveis desfavoráveis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0" y="4096512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14223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303520"/>
            <a:ext cx="11430000" cy="146304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3766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53"/>
                </a:solidFill>
              </a:rPr>
              <a:t>Conclusão: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760720"/>
            <a:ext cx="11064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No cenário stress combinado (pior caso), o Equity ainda entrega 18,3% — acima do CDI+3% (16,25%).
Sênior e Mezanino (yield fixo) não são afetados por nenhum cenário.
No cenário ACL forte (+3pp), o Equity pode chegar a 27,8% de IRR — não precificado no modelo base.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APÊNDICE — Riscos e Mitigações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27432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106424"/>
            <a:ext cx="26334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05156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63824" y="110642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5156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10642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Impacto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051560"/>
            <a:ext cx="63093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106424"/>
            <a:ext cx="61996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Mitigação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435607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148132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atrasa (regulação lenta)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1435607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148132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435607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148132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435607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1264" y="1481328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Modelo funciona sem ACL — é upside, não tese 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783079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1828799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Degradação BESS &gt;2%/ano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1783079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3824" y="1828799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1783079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1828799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1783079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41264" y="1828799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Garantia 90% capacidade; augmentação Ano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130552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" y="217627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FX no CAPEX importado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13055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17627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213055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544" y="217627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130552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41264" y="2176272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Hedge NDF/swap 100% travado na assinatura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478024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252374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Inadimplência cliente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247802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63824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247802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52544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2478024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1264" y="2523744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crédito; penhor SPE; seguro de crédito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825496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2871215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Regulatório (ANEEL/GD)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282549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3824" y="2871215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0" y="282549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2871215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2825496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1264" y="2871215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Marco Legal GD 14.300/2022: 25 anos de estabilidade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172968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" y="3218687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Concorrência acelera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317296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3824" y="3218687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317296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52544" y="3218687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3172968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41264" y="3218687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Moat: IA + dados + FIDC + WALE 12a + first-mover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520440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624" y="356616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Preço energia cai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352044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63824" y="35661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Muito baixa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352044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52544" y="35661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0" y="3520440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41264" y="3566160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+ DCs sustentam pressão altista por 10+ anos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867912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39136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Data centers não usam BOT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3867912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63824" y="39136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97680" y="3867912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2544" y="39136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0" y="3867912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41264" y="3913632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Pipeline C&amp;I tradicional sustenta crescimento até Ano 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