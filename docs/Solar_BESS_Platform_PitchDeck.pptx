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88952" cy="6638544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66960" cy="5029200"/>
          </a:xfrm>
          <a:prstGeom prst="rect">
            <a:avLst/>
          </a:prstGeom>
          <a:solidFill>
            <a:srgbClr val="102A5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☀  SOLAR + BESS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C8FF"/>
                </a:solidFill>
              </a:rPr>
              <a:t>A infraestrutura que o Brasil precisa agora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51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D6E8"/>
                </a:solidFill>
              </a:rPr>
              <a:t>ACL + Data Centers estão reescrevendo o preço da energia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3246120"/>
            <a:ext cx="7589520" cy="27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54480" y="3383280"/>
            <a:ext cx="2011680" cy="100584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R$ 387M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8587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Captação alvo
até Ano 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2191" y="3383280"/>
            <a:ext cx="2011680" cy="100584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7911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R$ 1,2B – 1,8B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7911" y="38587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Valuation
alvo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3383280"/>
            <a:ext cx="2011680" cy="100584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5624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22,6% a.a.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5624" y="38587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IRR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57616" y="3383280"/>
            <a:ext cx="2011680" cy="100584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3336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1,33×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3336" y="385876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DSCR Sênior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D600"/>
                </a:solidFill>
              </a:rPr>
              <a:t>Rodada: Série A — Equity Tranche  |  Ticket mínimo: R$ 1,0M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029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A0C0"/>
                </a:solidFill>
              </a:rPr>
              <a:t>Maio 2026  |  Confidencial — Uso Restrito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 Contexto: Dois Choques Simultâneos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O mercado de energia brasileiro está sendo reescrito agora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029200" cy="4114800"/>
          </a:xfrm>
          <a:prstGeom prst="rect">
            <a:avLst/>
          </a:prstGeom>
          <a:solidFill>
            <a:srgbClr val="1E355A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</a:rPr>
              <a:t>CHOQUE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EXPANSÃO DO ACL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300.000 empresas migrarão do mercado regulado (ACR) para o livre (ACL) até 2028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Exposição à volatilidade de preço — sem hedge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PLD pode variar de R$ 0 a R$ 2.000/MWh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Janela de decisão energética: 2026–2028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1463040"/>
            <a:ext cx="5029200" cy="411480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FF"/>
                </a:solidFill>
              </a:rPr>
              <a:t>CHOQUE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87451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BOOM DE DATA CENTERS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4231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R$ 150B+ em data centers anunciados para o Brasil até 2030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1089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IA global consome energia em ritmo sem precedente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7947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+15 a 25 TWh extras de demanda na rede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4805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▸  Grade não acompanha → preços sobem para todos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41848" y="3108960"/>
            <a:ext cx="896112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1848" y="3017520"/>
            <a:ext cx="896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C00"/>
                </a:solidFill>
              </a:rPr>
              <a:t>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5742432"/>
            <a:ext cx="3959352" cy="6400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5779008"/>
            <a:ext cx="3959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RESULTADO: PREÇO DA ENERGIA SOBE PARA TODOS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Choque 1: Expansão do ACL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O maior realinhamento de preços de energia da história do Brasil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228600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FF"/>
                </a:solidFill>
              </a:rPr>
              <a:t>Antes
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Apenas &gt;1,5 MW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17320"/>
            <a:ext cx="228600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4813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FF"/>
                </a:solidFill>
              </a:rP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7451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&gt; 1,0 MW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228600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4813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FF"/>
                </a:solidFill>
              </a:rPr>
              <a:t>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&gt; 500 kW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417320"/>
            <a:ext cx="228600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4813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2028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87451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TODOS em
média tensão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606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600"/>
                </a:solidFill>
              </a:rPr>
              <a:t>300.000+ empresas passarão do ACR para o ACL até 2028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29260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118104"/>
            <a:ext cx="28163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Situação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3063240"/>
            <a:ext cx="38404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38144" y="3118104"/>
            <a:ext cx="37307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No ACR (antes)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3760" y="3063240"/>
            <a:ext cx="448056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8624" y="3118104"/>
            <a:ext cx="437083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No ACL (após abertura)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47288"/>
            <a:ext cx="2926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493008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Preço da energia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3447288"/>
            <a:ext cx="38404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38144" y="3493008"/>
            <a:ext cx="3730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Tarifa regulada — previsível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3447288"/>
            <a:ext cx="4480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8624" y="3493008"/>
            <a:ext cx="4370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Preço de mercado — variável (PLD)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94760"/>
            <a:ext cx="2926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3840480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Exposição ao pico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794760"/>
            <a:ext cx="38404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38144" y="3840480"/>
            <a:ext cx="3730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Limitada pela ANEEL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3760" y="3794760"/>
            <a:ext cx="4480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8624" y="3840480"/>
            <a:ext cx="4370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Total: paga o PLD do dia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142232"/>
            <a:ext cx="2926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4187952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Impacto de seca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4142232"/>
            <a:ext cx="38404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38144" y="4187952"/>
            <a:ext cx="3730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Amortecido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0" y="4142232"/>
            <a:ext cx="4480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78624" y="4187952"/>
            <a:ext cx="4370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Direto no bolso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89704"/>
            <a:ext cx="2926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2064" y="4535424"/>
            <a:ext cx="2816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Risco de preço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83280" y="4489704"/>
            <a:ext cx="38404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38144" y="4535424"/>
            <a:ext cx="3730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23760" y="4489704"/>
            <a:ext cx="4480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78624" y="4535424"/>
            <a:ext cx="4370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ALTO — sem hedge = risco operacional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F3A"/>
                </a:solidFill>
              </a:rPr>
              <a:t>◉  O Solar + BESS BOT é o hedge natural: trava o preço por 15 anos, imune ao PLD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Choque 2: O Boom de Data Centers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A IA global está consumindo a rede elétrica brasileira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472184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Empresa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41732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98064" y="1472184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Investimento anunciado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1417320"/>
            <a:ext cx="16459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4064" y="1472184"/>
            <a:ext cx="15361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Prazo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0136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84708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Microsoft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80136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98064" y="184708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R$ 11B (USD 2,1B)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801368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4064" y="184708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2024–2026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4884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19456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Google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14884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98064" y="219456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R$ 5B+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2148840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4064" y="219456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2024–2026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9631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254203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Amazon AWS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49631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98064" y="254203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R$ 4B+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2496312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4064" y="254203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2025–2027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84378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288950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Meta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284378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288950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R$ 3B+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0" y="2843784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84064" y="2889504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2025–2028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191256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3236976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Oracle, IBM e outros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0" y="3191256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98064" y="3236976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R$ 8B+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0" y="3191256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4064" y="3236976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2025–2030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538728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358444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0" y="3538728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98064" y="358444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R$ 150B+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0" y="3538728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84064" y="35844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Até 2030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1417320"/>
            <a:ext cx="4663440" cy="48006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0" y="150876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FF"/>
                </a:solidFill>
              </a:rPr>
              <a:t>Impacto na rede elétrica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0" y="2011680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 DC médio = 50–200 MW contínuos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23760" y="257860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Expansão 2024–2030 = +15–25 TWh/ano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3145536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= +5–12% da capacidade total do Brasil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0" y="3712464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8C00"/>
                </a:solidFill>
              </a:rPr>
              <a:t>Rede de distribuição NÃO acompanha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427939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8C00"/>
                </a:solidFill>
              </a:rPr>
              <a:t>→ Escassez + filas de conexão + preços 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754880"/>
            <a:ext cx="6217920" cy="1417320"/>
          </a:xfrm>
          <a:prstGeom prst="rect">
            <a:avLst/>
          </a:prstGeom>
          <a:solidFill>
            <a:srgbClr val="102A50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482803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Data centers como clientes BOT: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2120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Precisam de 24/7 confiável + metas ESG 100% renováveis até 2030
Solar + BESS = geração local + backup integrado
Ticket 3–10× maior que indústria tradicional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3A"/>
                </a:solidFill>
              </a:rPr>
              <a:t>◉  Cada GW de data center instalado no Brasil aumenta o preço da energia para todos — e aumenta o valor do nosso produto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 Convergência: Uma Janela Única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ACL + Data Centers = tempestade perfeita para Solar + BESS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474720" cy="502920"/>
          </a:xfrm>
          <a:prstGeom prst="rect">
            <a:avLst/>
          </a:prstGeom>
          <a:solidFill>
            <a:srgbClr val="FF8C0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F3A"/>
                </a:solidFill>
              </a:rPr>
              <a:t>2026 — AGORA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3474720" cy="1371600"/>
          </a:xfrm>
          <a:prstGeom prst="rect">
            <a:avLst/>
          </a:prstGeom>
          <a:solidFill>
            <a:srgbClr val="1E355A"/>
          </a:solidFill>
          <a:ln w="1016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</a:rPr>
              <a:t>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Custo BESS em queda
Pipeline limpo
Vendemos o futuro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493008"/>
            <a:ext cx="3474720" cy="109728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53872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FF"/>
                </a:solidFill>
              </a:rPr>
              <a:t>DCs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5876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Anúncios R$ 50B+
Obras iniciando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417320"/>
            <a:ext cx="3474720" cy="50292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63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2027–2028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2011680"/>
            <a:ext cx="3474720" cy="1371600"/>
          </a:xfrm>
          <a:prstGeom prst="rect">
            <a:avLst/>
          </a:prstGeom>
          <a:solidFill>
            <a:srgbClr val="1E355A"/>
          </a:solidFill>
          <a:ln w="1016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205740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</a:rPr>
              <a:t>ACL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3774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ACL pleno: 300k empresas
buscam hedge urgente
Nosso argumento mais forte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3493008"/>
            <a:ext cx="3474720" cy="109728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353872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FF"/>
                </a:solidFill>
              </a:rPr>
              <a:t>DCs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5876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Obras em curso
+DCs operando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417320"/>
            <a:ext cx="3474720" cy="502920"/>
          </a:xfrm>
          <a:prstGeom prst="rect">
            <a:avLst/>
          </a:prstGeom>
          <a:solidFill>
            <a:srgbClr val="102A50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1463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2029–2030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011680"/>
            <a:ext cx="3474720" cy="1371600"/>
          </a:xfrm>
          <a:prstGeom prst="rect">
            <a:avLst/>
          </a:prstGeom>
          <a:solidFill>
            <a:srgbClr val="1E355A"/>
          </a:solidFill>
          <a:ln w="1016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205740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</a:rPr>
              <a:t>ACL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3774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Escala plena
Motor Transfer + FIDC
Portfólio maduro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3493008"/>
            <a:ext cx="3474720" cy="1097280"/>
          </a:xfrm>
          <a:prstGeom prst="rect">
            <a:avLst/>
          </a:prstGeom>
          <a:solidFill>
            <a:srgbClr val="1E355A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0" y="353872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8FF"/>
                </a:solidFill>
              </a:rPr>
              <a:t>DCs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85876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+15–25 TWh/ano
na rede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709160"/>
            <a:ext cx="11430000" cy="731520"/>
          </a:xfrm>
          <a:prstGeom prst="rect">
            <a:avLst/>
          </a:prstGeom>
          <a:solidFill>
            <a:srgbClr val="102A50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773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"Não vendemos eficiência energética.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074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8C00"/>
                </a:solidFill>
              </a:rPr>
              <a:t>Vendemos certeza de preço num mercado que vai perder essa certeza."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 Solução: Solar + BESS via Modelo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Geração + Armazenamento + Financiamento — sem CAPEX para o cliente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394960" cy="4206240"/>
          </a:xfrm>
          <a:prstGeom prst="rect">
            <a:avLst/>
          </a:prstGeom>
          <a:solidFill>
            <a:srgbClr val="1E355A"/>
          </a:solidFill>
          <a:ln w="10160">
            <a:solidFill>
              <a:srgbClr val="8AA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4C4C"/>
                </a:solidFill>
              </a:rPr>
              <a:t>CLIENTE NO ACL (sem solução)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✗  Preço varia com PLD (R$ 0–2.000/MWh)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24328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✗  Exposto a picos de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82696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✗  Sem geração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41064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✗  CAPEX necessário para instalar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99431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✗  Risco de crédito com fornecedor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417320"/>
            <a:ext cx="5394960" cy="42062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481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53"/>
                </a:solidFill>
              </a:rPr>
              <a:t>CLIENTE COM BOT SOLAR + BESS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✔  Preço fixo + IPCA por 15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24328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✔  BESS nivela pico → sem multa de demanda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82696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✔  Solar gera 180 MWh/mês no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941064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✔  Zero CAPEX — paga mensalidade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99431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✔  Contrato com SPE dedicada + garantias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017520"/>
            <a:ext cx="731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8C00"/>
                </a:solidFill>
              </a:rPr>
              <a:t>VS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742432"/>
            <a:ext cx="11430000" cy="804672"/>
          </a:xfrm>
          <a:prstGeom prst="rect">
            <a:avLst/>
          </a:prstGeom>
          <a:solidFill>
            <a:srgbClr val="102A50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78815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01. 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Instalamos Solar+BESS
(R$ 6,2M / projeto)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594360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78815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02. OPERATE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6126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Operamos 15 anos
Cliente paga R$110k/mês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94360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78815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03. TRANSFER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6126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Venda SPE madura
10× EBITDA = R$12,5M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Dois segmentos, uma solução — o maior mercado de Solar+BESS da América Latina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200400" cy="2926080"/>
          </a:xfrm>
          <a:prstGeom prst="rect">
            <a:avLst/>
          </a:prstGeom>
          <a:solidFill>
            <a:srgbClr val="1E355A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C00"/>
                </a:solidFill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R$ 420B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03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C&amp;I + Data Centers
(50.000+ empresas)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1965960"/>
            <a:ext cx="2560320" cy="242316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2057400"/>
            <a:ext cx="23774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FF"/>
                </a:solidFill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68880"/>
            <a:ext cx="23774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R$ 95B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3240"/>
            <a:ext cx="23774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Perfil BOT: &gt;500kW
+ data centers tier III/IV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2468880"/>
            <a:ext cx="1920240" cy="19202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5603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53"/>
                </a:solidFill>
              </a:rPr>
              <a:t>SOM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R$ 2,3B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5661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Alvo 7 anos:
52 projetos implantados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463040"/>
            <a:ext cx="6949440" cy="5029200"/>
          </a:xfrm>
          <a:prstGeom prst="rect">
            <a:avLst/>
          </a:prstGeom>
          <a:solidFill>
            <a:srgbClr val="1E355A"/>
          </a:solidFill>
          <a:ln w="12700">
            <a:solidFill>
              <a:srgbClr val="102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536192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C00"/>
                </a:solidFill>
              </a:rPr>
              <a:t>Drivers de crescimento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2057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ACL 2028: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0574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300.000 empresas buscam hedge de preço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71576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Data Centers: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71576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R$ 150B+ → +15–25 TWh extras na rede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3741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Marco Legal GD: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3374136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Lei 14.300/2022 — estabilidade 25 anos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403250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Custo BESS: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032504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–15%/ano → instalar hoje = melhor spread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4690872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ESG corporativo: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690872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Meta 100% renováveis até 2030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5349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ANEEL BESS: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53492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Regulação em consolidação — janela first-mover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Modelo de Receita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Receita recorrente de longo prazo + Motor Transfer (reciclagem de ativos)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029200" cy="4800600"/>
          </a:xfrm>
          <a:prstGeom prst="rect">
            <a:avLst/>
          </a:prstGeom>
          <a:solidFill>
            <a:srgbClr val="1E355A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Por projeto maduro (mês 37+)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Receita BOT (mensalidade)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93852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</a:rPr>
              <a:t>R$ 110.062/mês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0545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O&amp;M — Solar + BESS (IA plena)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50545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4C4C"/>
                </a:solidFill>
              </a:rPr>
              <a:t>– R$ 5.750/mês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7238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EBITDA por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307238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C853"/>
                </a:solidFill>
              </a:rPr>
              <a:t>R$ 104.312/mês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02736"/>
            <a:ext cx="4663440" cy="27432"/>
          </a:xfrm>
          <a:prstGeom prst="rect">
            <a:avLst/>
          </a:prstGeom>
          <a:solidFill>
            <a:srgbClr val="8AA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06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Empresa retém (10%)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42062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C8FF"/>
                </a:solidFill>
              </a:rPr>
              <a:t>R$ 10.431/mês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731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Investidores (90%)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477316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D600"/>
                </a:solidFill>
              </a:rPr>
              <a:t>R$ 93.881/mês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26280"/>
            <a:ext cx="5029200" cy="1645920"/>
          </a:xfrm>
          <a:prstGeom prst="rect">
            <a:avLst/>
          </a:prstGeom>
          <a:solidFill>
            <a:srgbClr val="102A50"/>
          </a:solidFill>
          <a:ln w="1016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9028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O&amp;M evolução (por projeto):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560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Meses 1–36: R$ 12.500/mês  →  Mês 37+: R$ 5.750/mês  (–54% com IA)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32180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8"/>
                </a:solidFill>
              </a:rPr>
              <a:t>Degradação solar –0,5%/ano | BESS –2,0%/ano | IPCA +5% compensa com folga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1417320"/>
            <a:ext cx="6035040" cy="48006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148132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Motor Transfer — reciclagem do ativo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2011680"/>
            <a:ext cx="5486400" cy="566928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20574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Preço de venda (10× EBITDA anual)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057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R$ 12.517.440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2670048"/>
            <a:ext cx="5486400" cy="566928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27157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(–) Buyout investidores ao NPV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7157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– R$ 5.592.952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3328416"/>
            <a:ext cx="5486400" cy="566928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337413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(–) Custos de transação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337413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– R$ 200.000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3986784"/>
            <a:ext cx="5486400" cy="5669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403250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</a:rPr>
              <a:t>RECEITA LÍQUIDA / DEAL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03250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B1F3A"/>
                </a:solidFill>
              </a:rPr>
              <a:t>R$ 6.724.488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63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AA0C0"/>
                </a:solidFill>
              </a:rPr>
              <a:t>Buyout detalhado: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01091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Sênior: R$4,07M  |  Mezanino: R$0,83M  |  Equity: R$0,70M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39496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600"/>
                </a:solidFill>
              </a:rPr>
              <a:t>Ano 7: 20 deals × R$ 6,7M = R$ 134,5M de receita líquida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Crescimento do Portfólio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Ramp-up de 7 anos — Solar + BESS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6400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517904"/>
            <a:ext cx="5303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Ano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463040"/>
            <a:ext cx="82296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517904"/>
            <a:ext cx="71323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Novos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463040"/>
            <a:ext cx="82296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83664" y="1517904"/>
            <a:ext cx="71323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Total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463040"/>
            <a:ext cx="21031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6624" y="1517904"/>
            <a:ext cx="199339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Rec. Recorrente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79" y="1463040"/>
            <a:ext cx="24688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3" y="1517904"/>
            <a:ext cx="23591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Motor Transfer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59" y="146304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78623" y="1517904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EBITDA 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7088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1892807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847088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1892807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1847088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83664" y="1892807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1847088"/>
            <a:ext cx="21031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1892807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R$ 2,8M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79" y="1847088"/>
            <a:ext cx="24688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9743" y="1892807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3759" y="184708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8623" y="1892807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R$ 2,8M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194560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2240279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2194560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" y="2240279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0" y="2194560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83664" y="2240279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2194560"/>
            <a:ext cx="21031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6624" y="2240279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R$ 9,4M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79" y="2194560"/>
            <a:ext cx="24688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9743" y="2240279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3759" y="219456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3" y="2240279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R$ 9,4M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542032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2587752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5840" y="2542032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704" y="258775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0" y="2542032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258775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51760" y="2542032"/>
            <a:ext cx="21031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6624" y="2587752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R$ 18,7M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79" y="2542032"/>
            <a:ext cx="24688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09743" y="2587752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R$ 13,4M 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23759" y="254203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78623" y="258775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R$ 32,1M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2889504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" y="2935224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5840" y="2889504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" y="293522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0" y="2889504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83664" y="293522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651760" y="2889504"/>
            <a:ext cx="21031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6624" y="2935224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R$ 28,1M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79" y="2889504"/>
            <a:ext cx="24688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09743" y="2935224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R$ 33,5M (5)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23759" y="288950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78623" y="293522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R$ 61,6M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236976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" y="3282696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" y="3236976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0704" y="328269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28800" y="3236976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83664" y="328269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51760" y="3236976"/>
            <a:ext cx="21031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06624" y="3282696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R$ 37,5M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79" y="3236976"/>
            <a:ext cx="24688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09743" y="3282696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R$ 80,7M (12)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23759" y="3236976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278623" y="3282696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R$ 118,2M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584448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0624" y="3630168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05840" y="3584448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60704" y="363016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28800" y="3584448"/>
            <a:ext cx="8229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883664" y="363016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651760" y="3584448"/>
            <a:ext cx="21031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706624" y="3630168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R$ 44,0M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754879" y="3584448"/>
            <a:ext cx="24688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809743" y="3630168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R$ 94,1M (14)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223759" y="3584448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278623" y="363016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R$ 138,1M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3931920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20624" y="3977640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05840" y="3931920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60704" y="397764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828800" y="3931920"/>
            <a:ext cx="8229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883664" y="397764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651760" y="3931920"/>
            <a:ext cx="21031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06624" y="3977640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R$ 48,7M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754879" y="3931920"/>
            <a:ext cx="24688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09743" y="3977640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R$ 134,5M (20)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223759" y="3931920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278623" y="397764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R$ 183,2M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02920" y="6199751"/>
            <a:ext cx="1234440" cy="1816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5943719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R$3M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130552" y="6156926"/>
            <a:ext cx="1234440" cy="60993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130552" y="590089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R$9M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758184" y="6009634"/>
            <a:ext cx="1234440" cy="208285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758184" y="5753602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R$32M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385816" y="5818219"/>
            <a:ext cx="1234440" cy="3997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85816" y="5562187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R$62M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013448" y="5450962"/>
            <a:ext cx="1234440" cy="766957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013448" y="519493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R$118M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641080" y="5321837"/>
            <a:ext cx="1234440" cy="89608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641080" y="506580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R$138M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268712" y="5029200"/>
            <a:ext cx="1234440" cy="1188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268712" y="4773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R$183M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6236208"/>
            <a:ext cx="11430000" cy="27432"/>
          </a:xfrm>
          <a:prstGeom prst="rect">
            <a:avLst/>
          </a:prstGeom>
          <a:solidFill>
            <a:srgbClr val="8AA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628192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A0C0"/>
                </a:solidFill>
              </a:rPr>
              <a:t>EBITDA Total por Ano (R$ M)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Estrutura de 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3 Tranches com Waterfall protegido — R$ 6,2M por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548640"/>
          </a:xfrm>
          <a:prstGeom prst="rect">
            <a:avLst/>
          </a:prstGeom>
          <a:solidFill>
            <a:srgbClr val="102A50"/>
          </a:solidFill>
          <a:ln w="6350">
            <a:solidFill>
              <a:srgbClr val="8AA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CD6E8"/>
                </a:solidFill>
              </a:rPr>
              <a:t>EBITDA maduro: R$ 104.312/mês   →   Para investidores (90%): R$ 93.881/mês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11430000" cy="1280160"/>
          </a:xfrm>
          <a:prstGeom prst="rect">
            <a:avLst/>
          </a:prstGeom>
          <a:solidFill>
            <a:srgbClr val="1E355A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7627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</a:rPr>
              <a:t>1ª PRIORIDADE — SÊNIOR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1762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A0C0"/>
                </a:solidFill>
              </a:rPr>
              <a:t>75% do capital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786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Capital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163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R$ 4.650.000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5786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Pagamento mensal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8163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R$ 65.875/mês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9" y="25786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Yield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9" y="28163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17,0% a.a. fixo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399" y="25786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Proteção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399" y="28163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DSCR 1,33×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127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0C0"/>
                </a:solidFill>
              </a:rPr>
              <a:t>Recebíveis BOT + Penhor SPE + Conta Reserva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11430000" cy="1280160"/>
          </a:xfrm>
          <a:prstGeom prst="rect">
            <a:avLst/>
          </a:prstGeom>
          <a:solidFill>
            <a:srgbClr val="1E355A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54787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2ª PRIORIDADE — MEZANINO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5478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A0C0"/>
                </a:solidFill>
              </a:rPr>
              <a:t>15% do capital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502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Capital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879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R$ 930.000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39502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Pagamento mensal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41879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R$ 13.950/mês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79" y="39502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Yield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79" y="41879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18,0% a.a. fixo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399" y="39502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Proteção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399" y="41879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DSCR S+M 1,10×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4988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0C0"/>
                </a:solidFill>
              </a:rPr>
              <a:t>Subordinado ao Sênior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846320"/>
            <a:ext cx="11430000" cy="1280160"/>
          </a:xfrm>
          <a:prstGeom prst="rect">
            <a:avLst/>
          </a:prstGeom>
          <a:solidFill>
            <a:srgbClr val="1E355A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1947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62828"/>
                </a:solidFill>
              </a:rPr>
              <a:t>3ª PRIORIDADE — EQUITY (Performance)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9194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A0C0"/>
                </a:solidFill>
              </a:rPr>
              <a:t>10% do capital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3218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Capital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5595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R$ 620.000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53218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Pagamento mensal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7560" y="55595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R$7.981→R$14.056/mês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79" y="53218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Yield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79" y="55595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15,4%→27,2% a.a.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53218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Proteção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399" y="55595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IRR 22,6% | 3,73×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8704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0C0"/>
                </a:solidFill>
              </a:rPr>
              <a:t>Residual — captura IA + ACL upside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4465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D600"/>
                </a:solidFill>
              </a:rPr>
              <a:t>O Equity é a tranche do cenário ACL: toda alta de tarifa acima do IPCA vai diretamente para o residual — IRR 22,6% é o piso conservador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Retornos por Tranche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Piso conservador (tarifa flat) + upside real do cenário ACL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2004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472184"/>
            <a:ext cx="30906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Métrica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417320"/>
            <a:ext cx="27432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472184"/>
            <a:ext cx="26334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Sênior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472184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Mezanino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417320"/>
            <a:ext cx="32004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50224" y="1472184"/>
            <a:ext cx="30906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01368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184708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Capital investido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1801368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1847088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R$ 4.650.000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80136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184708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R$ 930.000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1801368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0224" y="184708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R$ 620.000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148840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2194560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Yield fase inicial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66160" y="2148840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21024" y="2194560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17,0% a.a.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14884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4224" y="219456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18,0% a.a.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95360" y="2148840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50224" y="2194560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15,4% a.a.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496312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2542032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Yield fase madura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66160" y="2496312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21024" y="254203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17,0% a.a.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249631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4224" y="254203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18,0% a.a.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95360" y="2496312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50224" y="2542032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27,2% a.a.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843784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" y="2889504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IRR 15 anos (base)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66160" y="2843784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21024" y="2889504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~16,8%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284378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4224" y="288950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~17,8%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95360" y="2843784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50224" y="2889504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22,6%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191256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" y="3236976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Múltiplo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66160" y="3191256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21024" y="3236976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2,55×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3191256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64224" y="3236976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2,70×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95360" y="3191256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50224" y="3236976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3,73×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538728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" y="358444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Yield médio 15 anos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66160" y="3538728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21024" y="3584448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17,0%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3538728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3584448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18,0%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95360" y="3538728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50224" y="3584448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24,9%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886200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" y="3931920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vs CDI+3% (16,25%)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66160" y="3886200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21024" y="3931920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+0,55pp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3886200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3931920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+1,55pp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95360" y="3886200"/>
            <a:ext cx="3200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50224" y="3931920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+6,35pp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233672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0624" y="4279392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Upside ACL (+1pp tar.)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66160" y="4233672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21024" y="427939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Nenhum (fixo)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4233672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64224" y="427939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Nenhum (fixo)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95360" y="4233672"/>
            <a:ext cx="3200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50224" y="4279392"/>
            <a:ext cx="3090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 R$13,2k/proj/ano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715000"/>
            <a:ext cx="11430000" cy="777240"/>
          </a:xfrm>
          <a:prstGeom prst="rect">
            <a:avLst/>
          </a:prstGeom>
          <a:solidFill>
            <a:srgbClr val="102A50"/>
          </a:solidFill>
          <a:ln w="127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8640" y="57607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53"/>
                </a:solidFill>
              </a:rPr>
              <a:t>Benchmark: CDI ~13,25%  |  CDI+3% = 16,25%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0" y="60807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Todas as tranches superam CDI+3% no cenário base conservador.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59161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8C00"/>
                </a:solidFill>
              </a:rPr>
              <a:t>No cenário ACL forte (+3pp/ano): IRR Equity → 27,8%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Estrutura FIDC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Único FIDC de infraestrutura Solar + BESS no Brasil — CVM 175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029200" cy="640080"/>
          </a:xfrm>
          <a:prstGeom prst="rect">
            <a:avLst/>
          </a:prstGeom>
          <a:solidFill>
            <a:srgbClr val="1E355A"/>
          </a:solidFill>
          <a:ln w="10160">
            <a:solidFill>
              <a:srgbClr val="CC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INVESTIDORES INSTITUCIONAIS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5029200" cy="1005840"/>
          </a:xfrm>
          <a:prstGeom prst="rect">
            <a:avLst/>
          </a:prstGeom>
          <a:solidFill>
            <a:srgbClr val="102A5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957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8C00"/>
                </a:solidFill>
              </a:rPr>
              <a:t>FIDC SOLAR + BESS INFRA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249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8"/>
                </a:solidFill>
              </a:rPr>
              <a:t>CVM 175 — Infraestrutura  |  Lastro: recebíveis BOT 15 anos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47872"/>
            <a:ext cx="233172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21024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565C0"/>
                </a:solidFill>
              </a:rPr>
              <a:t>Cota Sênior
17% a.a. | Rating A–AA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3547872"/>
            <a:ext cx="233172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3621024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Cota Mezanino
18% a.a. | Rating BBB–A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754880"/>
            <a:ext cx="5029200" cy="9144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2803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8"/>
                </a:solidFill>
              </a:rPr>
              <a:t>SPEs — Recebíveis BOT (Solar+BESS)
R$ 110k/mês por SPE × 15 anos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833872"/>
            <a:ext cx="5029200" cy="658368"/>
          </a:xfrm>
          <a:prstGeom prst="rect">
            <a:avLst/>
          </a:prstGeom>
          <a:solidFill>
            <a:srgbClr val="102A50"/>
          </a:solidFill>
          <a:ln w="12700">
            <a:solidFill>
              <a:srgbClr val="FF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8978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4C4C"/>
                </a:solidFill>
              </a:rPr>
              <a:t>Cota Subordinada — retida pela empresa (First-loss | Equity 27,2% maduro)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1031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337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5720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623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A0C0"/>
                </a:solidFill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1463040"/>
            <a:ext cx="146304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5583" y="1517904"/>
            <a:ext cx="135331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FIDC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60" y="1463040"/>
            <a:ext cx="9144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78624" y="1517904"/>
            <a:ext cx="8046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Ano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1463040"/>
            <a:ext cx="13716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4" y="1517904"/>
            <a:ext cx="12618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Projetos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1463040"/>
            <a:ext cx="22860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64624" y="1517904"/>
            <a:ext cx="21762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Captação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1847088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15583" y="1892807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FIDC 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0" y="1847088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8624" y="1892807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1847088"/>
            <a:ext cx="13716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024" y="1892807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760" y="1847088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64624" y="1892807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R$ 43,4M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0" y="2194560"/>
            <a:ext cx="146304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15583" y="2240279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FIDC II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2194560"/>
            <a:ext cx="914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78624" y="2240279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2194560"/>
            <a:ext cx="13716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93024" y="2240279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760" y="2194560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4624" y="2240279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R$ 62,0M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60720" y="2542032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15583" y="2587752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FIDC III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23760" y="2542032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78624" y="2587752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38160" y="2542032"/>
            <a:ext cx="13716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93024" y="2587752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760" y="2542032"/>
            <a:ext cx="22860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64624" y="2587752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R$ 62,0M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60720" y="2889504"/>
            <a:ext cx="146304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15583" y="2935224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FIDC IV+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23760" y="2889504"/>
            <a:ext cx="914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78624" y="2935224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5+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38160" y="2889504"/>
            <a:ext cx="13716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93024" y="2935224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Rotativo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509760" y="2889504"/>
            <a:ext cx="22860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64624" y="2935224"/>
            <a:ext cx="2176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Trimestral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760720" y="4069080"/>
            <a:ext cx="6035040" cy="25146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00" y="4133087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Proteções ao investidor: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0" y="45720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◆  Cotas Sênior/Mezanino têm prioridade absoluta no waterfall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0" y="49560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◆  Empresa retém Cota Sub. (First-loss) — skin in the game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0" y="53400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◆  Conta reserva: 3 meses de serviço de dívida por FIDC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43600" y="57241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◆  Auditoria independente semestral dos SPEs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43600" y="610819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◆  Seguro patrimonial solar + BESS (cobertura total)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Vantagens Competitivas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Por que somos a infraestrutura do cenário ACL — e não mais um integrador solar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566160" cy="2377440"/>
          </a:xfrm>
          <a:prstGeom prst="rect">
            <a:avLst/>
          </a:prstGeom>
          <a:solidFill>
            <a:srgbClr val="1E355A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8C00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7276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Produto feito para a era do ACL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57400"/>
            <a:ext cx="33467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Único produto que imuniza o cliente da volatilidade do mercado livre por 15 anos.
Solar puro não resolve (sem BESS o pico custa caro no ACL). BESS puro não resolve (sem solar, carrega com tarifa volátil).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463040"/>
            <a:ext cx="3566160" cy="23774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FF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57276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Único FIDC Solar+BESS no Brasil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057400"/>
            <a:ext cx="33467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200–300 bps de custo de capital abaixo de concorrentes. Escala R$100–200M/trimestre sem negociação individual por projeto.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566160" cy="23774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53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57276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Plataforma IA com dados exclusivos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057400"/>
            <a:ext cx="33467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Telemetria de 50+ sistemas após Ano 7. O&amp;M –54% (R$12.500 → R$5.750). Concorrentes não replicam sem anos de dados reais C&amp;I.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5394960" cy="2377440"/>
          </a:xfrm>
          <a:prstGeom prst="rect">
            <a:avLst/>
          </a:prstGeom>
          <a:solidFill>
            <a:srgbClr val="1E355A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069079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D600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087368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WALE de 12 anos — ativo estratégico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572000"/>
            <a:ext cx="51755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Contratos de 15 anos = barreira de saída para clientes. Utilities preferem COMPRAR o portfólio a replicar o modelo.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977639"/>
            <a:ext cx="5394960" cy="2377440"/>
          </a:xfrm>
          <a:prstGeom prst="rect">
            <a:avLst/>
          </a:prstGeom>
          <a:solidFill>
            <a:srgbClr val="1E355A"/>
          </a:solidFill>
          <a:ln w="19050">
            <a:solidFill>
              <a:srgbClr val="C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4069079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080FF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087368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Pipeline data center (Ano 4+)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4572000"/>
            <a:ext cx="51755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Ticket 3–10× maior. ESG exige renováveis. Confiabilidade exige storage. Entramos como fornecedor de infra, não como vendedor.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Funil Comercial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ACL como acelerador orgânico de vendas — LTV/CAC de 114×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37076" y="1463040"/>
            <a:ext cx="411480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74236" y="150876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C8FF"/>
                </a:solidFill>
              </a:rPr>
              <a:t>600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17236" y="153619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Leads/ano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17236" y="193852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Empresas migrando ACL + DCs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48716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AA0C0"/>
                </a:solidFill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4276" y="2697480"/>
            <a:ext cx="320040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1436" y="27432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C8FF"/>
                </a:solidFill>
              </a:rPr>
              <a:t>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4436" y="27706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Qualificados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4436" y="3172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Conversão 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72160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AA0C0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0036" y="3931920"/>
            <a:ext cx="246888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97196" y="39776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C00"/>
                </a:solidFill>
              </a:rPr>
              <a:t>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0196" y="400507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Propostas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0196" y="44074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Conversão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95604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AA0C0"/>
                </a:solidFill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80076" y="5166360"/>
            <a:ext cx="1828800" cy="1005840"/>
          </a:xfrm>
          <a:prstGeom prst="rect">
            <a:avLst/>
          </a:prstGeom>
          <a:solidFill>
            <a:srgbClr val="1E355A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7236" y="521208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C853"/>
                </a:solidFill>
              </a:rPr>
              <a:t>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0236" y="5239512"/>
            <a:ext cx="365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Contratos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0236" y="5641848"/>
            <a:ext cx="3657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Conversão 75% | Ciclo 75 dias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1463040"/>
            <a:ext cx="4114800" cy="5029200"/>
          </a:xfrm>
          <a:prstGeom prst="rect">
            <a:avLst/>
          </a:prstGeom>
          <a:solidFill>
            <a:srgbClr val="102A5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79" y="1536192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Unit Economics / cliente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79" y="2057400"/>
            <a:ext cx="3749039" cy="658368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1031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21031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R$ 24.444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2834640"/>
            <a:ext cx="3749039" cy="658368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28803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LTV (15 anos)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28803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R$ 2.783.280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3611880"/>
            <a:ext cx="3749039" cy="6583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3657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</a:rPr>
              <a:t>LTV / CAC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36576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B1F3A"/>
                </a:solidFill>
              </a:rPr>
              <a:t>114×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4389120"/>
            <a:ext cx="3749039" cy="658368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92440" y="44348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Payback do CAC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44348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&lt; 3 meses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79" y="5166360"/>
            <a:ext cx="3749039" cy="658368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521207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Margem bruta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9840" y="5212079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94,8%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58978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FF"/>
                </a:solidFill>
              </a:rPr>
              <a:t>ACL cria urgência orgânica — o mercado
qualifica o cliente antes de nos ligar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Financeiros Consolidados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P&amp;L projetado — 7 anos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6400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472184"/>
            <a:ext cx="5303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Ano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417320"/>
            <a:ext cx="20116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472184"/>
            <a:ext cx="19019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Receita Total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417320"/>
            <a:ext cx="20116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2384" y="1472184"/>
            <a:ext cx="19019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EBITDA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1417320"/>
            <a:ext cx="11887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1472184"/>
            <a:ext cx="10789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Margem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146304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1472184"/>
            <a:ext cx="135331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FCL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01368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1847088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1801368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1847088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R$ 5,6M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801368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72384" y="1847088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R$ 2,2M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1801368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4064" y="1847088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801368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1847088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– R$ 16,3M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148840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194560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2148840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" y="2194560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R$ 15,0M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148840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72384" y="2194560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R$ 7,5M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0" y="2148840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84064" y="2194560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148840"/>
            <a:ext cx="146304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72783" y="2194560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– R$ 40,5M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496312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0624" y="2542032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" y="2496312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0704" y="2542032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R$ 44,5M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2496312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72384" y="2542032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R$ 31,0M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0" y="2496312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542032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2496312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3" y="2542032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– R$ 25,7M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843784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" y="2889504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5840" y="2843784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0704" y="2889504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R$ 82,0M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2843784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72384" y="2889504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R$ 58,1M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0" y="2843784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288950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2843784"/>
            <a:ext cx="146304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72783" y="2889504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 R$ 12,4M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191256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0624" y="3236976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05840" y="3191256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60704" y="3236976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R$ 153,0M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3191256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72384" y="3236976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R$ 115,4M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0" y="3191256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3236976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3191256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72783" y="3236976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 R$ 68,9M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538728"/>
            <a:ext cx="6400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" y="3584448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" y="3538728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0704" y="3584448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R$ 205,0M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3538728"/>
            <a:ext cx="20116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72384" y="3584448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R$ 156,7M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0" y="3538728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3584448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76%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17920" y="3538728"/>
            <a:ext cx="146304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72783" y="3584448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 R$ 89,2M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886200"/>
            <a:ext cx="6400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0624" y="3931920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05840" y="3886200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60704" y="3931920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R$ 261,5M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017520" y="3886200"/>
            <a:ext cx="20116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072384" y="3931920"/>
            <a:ext cx="1901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R$ 203,2M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0" y="3886200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84064" y="3931920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78%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17920" y="3886200"/>
            <a:ext cx="146304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72783" y="3931920"/>
            <a:ext cx="1353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+ R$ 134,5M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46720" y="1417320"/>
            <a:ext cx="3749039" cy="3200400"/>
          </a:xfrm>
          <a:prstGeom prst="rect">
            <a:avLst/>
          </a:prstGeom>
          <a:solidFill>
            <a:srgbClr val="1E355A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29600" y="14813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CAPEX por projeto (R$ 6,2M)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0" y="1993392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Painéis solares + inversores (~2 MWp)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561320" y="199339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</a:rPr>
              <a:t>R$ 2,8M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338560" y="199339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C8FF"/>
                </a:solidFill>
              </a:rPr>
              <a:t>45%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2633472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Sistema BESS Li-ion (~1 MWh)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61320" y="263347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</a:rPr>
              <a:t>R$ 2,4M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338560" y="26334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C8FF"/>
                </a:solidFill>
              </a:rPr>
              <a:t>39%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29600" y="3273552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Instalação civil + elétrica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561320" y="327355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</a:rPr>
              <a:t>R$ 0,62M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338560" y="327355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C8FF"/>
                </a:solidFill>
              </a:rPr>
              <a:t>10%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29600" y="3913631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SCADA + comissionamento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1320" y="3913631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</a:rPr>
              <a:t>R$ 0,38M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338560" y="3913631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C8FF"/>
                </a:solidFill>
              </a:rPr>
              <a:t>6%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46720" y="4828032"/>
            <a:ext cx="3749039" cy="1645920"/>
          </a:xfrm>
          <a:prstGeom prst="rect">
            <a:avLst/>
          </a:prstGeom>
          <a:solidFill>
            <a:srgbClr val="102A50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29600" y="48920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F"/>
                </a:solidFill>
              </a:rPr>
              <a:t>Capital total captado 7 anos: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523036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C00"/>
                </a:solidFill>
              </a:rPr>
              <a:t>R$ 387M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229600" y="58064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C853"/>
                </a:solidFill>
              </a:rPr>
              <a:t>Break-even: Ano 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Valuation &amp;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IPO ou M&amp;A estratégico — Ano 7  |  Valuation-alvo: R$ 1,2B – R$ 1,8B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0175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472184"/>
            <a:ext cx="290779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Tipo de receita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79" y="1417320"/>
            <a:ext cx="9144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38144" y="1472184"/>
            <a:ext cx="8046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Múltiplo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417320"/>
            <a:ext cx="16459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52543" y="1472184"/>
            <a:ext cx="15361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EBITDA Ano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599" y="1417320"/>
            <a:ext cx="155448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463" y="1472184"/>
            <a:ext cx="144475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EV Parcial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01368"/>
            <a:ext cx="30175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1847088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Fee recorrente BOT (contratos 15a)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79" y="1801368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8144" y="1847088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1801368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3" y="184708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R$ 27,8M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599" y="1801368"/>
            <a:ext cx="15544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8463" y="1847088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R$ 417M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148840"/>
            <a:ext cx="30175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2194560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Serviços O&amp;M + SCADA terceiros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79" y="2148840"/>
            <a:ext cx="914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38144" y="2194560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12×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79" y="2148840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52543" y="219456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R$ 20,0M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599" y="2148840"/>
            <a:ext cx="15544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98463" y="2194560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R$ 240M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496312"/>
            <a:ext cx="30175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2542032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BESS ancilares CCEE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79" y="2496312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38144" y="2542032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10×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79" y="2496312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52543" y="254203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R$ 20,0M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599" y="2496312"/>
            <a:ext cx="15544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8463" y="2542032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R$ 200M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843784"/>
            <a:ext cx="30175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" y="2889504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Plataforma IA Solar+BESS (SaaS)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79" y="2843784"/>
            <a:ext cx="914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38144" y="2889504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79" y="2843784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52543" y="2889504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R$ 8,0M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599" y="2843784"/>
            <a:ext cx="15544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98463" y="2889504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R$ 160M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191256"/>
            <a:ext cx="30175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" y="3236976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Motor Transfer (recorrente 20 deals)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83279" y="3191256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38144" y="3236976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79" y="3191256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52543" y="3236976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R$ 134,5M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599" y="3191256"/>
            <a:ext cx="15544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98463" y="3236976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R$ 807M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538728"/>
            <a:ext cx="30175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" y="3584448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EV Total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83279" y="3538728"/>
            <a:ext cx="9144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38144" y="3584448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4297679" y="3538728"/>
            <a:ext cx="16459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52543" y="35844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5943599" y="3538728"/>
            <a:ext cx="155448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98463" y="3584448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 R$ 1,82B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886200"/>
            <a:ext cx="30175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" y="3931920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Consenso (–20% negociação)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83279" y="3886200"/>
            <a:ext cx="9144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38144" y="3931920"/>
            <a:ext cx="804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4297679" y="3886200"/>
            <a:ext cx="16459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52543" y="393192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5943599" y="3886200"/>
            <a:ext cx="155448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98463" y="3931920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R$ 1,2B – R$ 1,8B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63840" y="1417320"/>
            <a:ext cx="4023360" cy="507492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46720" y="14813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Compradores estratégicos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955279" y="2011680"/>
            <a:ext cx="3840480" cy="896112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92440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Utility nacional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2440" y="2377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Engie, EDP, CPFL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66960" y="21945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8C00"/>
                </a:solidFill>
              </a:rPr>
              <a:t>12–15×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2440" y="26700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52 clientes C&amp;I + IA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955279" y="3017520"/>
            <a:ext cx="3840480" cy="896112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92440" y="3063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Utility internacional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92440" y="3383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Enel X, Iberdrola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66960" y="32004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8C00"/>
                </a:solidFill>
              </a:rPr>
              <a:t>11–14×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92440" y="36758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Entrada no mercado BR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955279" y="4023360"/>
            <a:ext cx="3840480" cy="896112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92440" y="4069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Fundo infra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9244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Brookfield, Pátria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66960" y="4206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8C00"/>
                </a:solidFill>
              </a:rPr>
              <a:t>9–12×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92440" y="46817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Cash flow longo prazo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955279" y="5029200"/>
            <a:ext cx="3840480" cy="896112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9244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PE energético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92440" y="5394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6E8"/>
                </a:solidFill>
              </a:rPr>
              <a:t>BTG Energia, Kinea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66960" y="52120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8C00"/>
                </a:solidFill>
              </a:rPr>
              <a:t>10–12×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92440" y="56875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Crescimento + PI IA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6035040"/>
            <a:ext cx="11430000" cy="475488"/>
          </a:xfrm>
          <a:prstGeom prst="rect">
            <a:avLst/>
          </a:prstGeom>
          <a:solidFill>
            <a:srgbClr val="102A50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8076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D600"/>
                </a:solidFill>
              </a:rPr>
              <a:t>No cenário ACL: portfólio com tarifa travada é ativo escasso → utilities pagam prêmio por clientes imunes ao PLD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Uso dos Recursos &amp;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FF"/>
                </a:solidFill>
              </a:rPr>
              <a:t>Série A — Equity Tranche  |  R$ 6,2M por projeto  |  Mínimo R$ 1,0M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520440" cy="502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</a:rPr>
              <a:t>2026 — AGORA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3520440" cy="1371600"/>
          </a:xfrm>
          <a:prstGeom prst="rect">
            <a:avLst/>
          </a:prstGeom>
          <a:solidFill>
            <a:srgbClr val="1E355A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84831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Custo BESS em queda
Pipeline limpo
Instalamos agora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487168"/>
            <a:ext cx="256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1417320"/>
            <a:ext cx="3520440" cy="50292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46304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</a:rPr>
              <a:t>2027–2028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7952" y="2011680"/>
            <a:ext cx="3520440" cy="13716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2084831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ACL pleno: urgência orgânica
Nosso argumento mais forte
Colhemos aqui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54112" y="2487168"/>
            <a:ext cx="256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AA0C0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417320"/>
            <a:ext cx="3520440" cy="5029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1583" y="146304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3A"/>
                </a:solidFill>
              </a:rPr>
              <a:t>2029–2030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2011680"/>
            <a:ext cx="3520440" cy="137160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7304" y="2084831"/>
            <a:ext cx="3246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Escala plena
Motor Transfer + FIDC
Saída estratégica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66160"/>
            <a:ext cx="5394960" cy="2926080"/>
          </a:xfrm>
          <a:prstGeom prst="rect">
            <a:avLst/>
          </a:prstGeom>
          <a:solidFill>
            <a:srgbClr val="1E355A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63016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Uso dos recursos — 3 projetos piloto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33087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R$ 8,4M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133087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Painéis solares + inversores (3 × ~2 MWp)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9028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R$ 7,2M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5902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Sistemas BESS Li-ion (3 × ~1 MWh)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4748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R$ 1,9M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0474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Instalação civil + elétrica + SCADA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50468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R$ 0,5M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55046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Capital de giro pré-FIDC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6188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R$ 0,6M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9618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Estruturação FIDC I + jurídico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566160"/>
            <a:ext cx="5669280" cy="2926080"/>
          </a:xfrm>
          <a:prstGeom prst="rect">
            <a:avLst/>
          </a:prstGeom>
          <a:solidFill>
            <a:srgbClr val="1E355A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63016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F"/>
                </a:solidFill>
              </a:rPr>
              <a:t>Milestones Ano 1–2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1148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3 contratos BOT assinados (pipeline: 8 qualificados)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52628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3 SPEs constituídas — solar + BESS instalados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9377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Plataforma IA v1.0 com telemetria em tempo real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34924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FIDC I aprovado CVM (Q3 Ano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76072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Rating BBB+ cotas Sênior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61722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8"/>
                </a:solidFill>
              </a:rPr>
              <a:t>☐  1 data center no pipeline para Ano 3+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6446520"/>
            <a:ext cx="11430000" cy="4114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49224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1F3A"/>
                </a:solidFill>
              </a:rPr>
              <a:t>Pipeline: 8 clientes qualificados aguardando assinatura  |  Time completo formado  |  Capital é o único insumo faltante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A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APÊNDICE — Análise de Sensibilidade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AA0C0"/>
                </a:solidFill>
              </a:rPr>
              <a:t>IRR Equity vs. variáveis-chave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34747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" y="1335024"/>
            <a:ext cx="336499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Cenário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280160"/>
            <a:ext cx="34747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95344" y="1335024"/>
            <a:ext cx="336499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Variável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280160"/>
            <a:ext cx="219456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64" y="1335024"/>
            <a:ext cx="2084831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IRR Equity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64207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1709928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1664207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95344" y="1709928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Tarifa flat (IPCA)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1664207"/>
            <a:ext cx="2194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0064" y="1709928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22,6%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11679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2057399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ACL leve (+1pp/ano)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2011679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95344" y="2057399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Alta tarifa moderada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2011679"/>
            <a:ext cx="2194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4" y="2057399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24,1%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359152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" y="2404872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ACL forte (+3pp/ano)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0" y="2359152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5344" y="2404872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Volatilidade ACL + pressão DCs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2359152"/>
            <a:ext cx="2194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0064" y="240487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27,8%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706624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2752344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Irradiação +5%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2706624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95344" y="2752344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Projetos Norte/Nordeste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2706624"/>
            <a:ext cx="2194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70064" y="2752344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23,2%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54096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0624" y="3099815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O&amp;M +20%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0480" y="3054096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5344" y="3099815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Custo maior que previsto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0" y="3054096"/>
            <a:ext cx="2194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70064" y="3099815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21,2%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401568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3447287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Maturidade IA 4 anos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0" y="3401568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95344" y="3447287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IA mais lenta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0" y="3401568"/>
            <a:ext cx="2194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70064" y="3447287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20,0%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749039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" y="3794759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Motor Transfer 8×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0" y="3749039"/>
            <a:ext cx="3474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95344" y="3794759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Múltiplo menor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0" y="3749039"/>
            <a:ext cx="21945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70064" y="3794759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21,4%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4096512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" y="4142232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Stress combinado (pior caso)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0" y="4096512"/>
            <a:ext cx="3474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95344" y="4142232"/>
            <a:ext cx="33649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Todas variáveis desfavoráveis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5200" y="4096512"/>
            <a:ext cx="21945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70064" y="414223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18,3%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5303520"/>
            <a:ext cx="11430000" cy="1463040"/>
          </a:xfrm>
          <a:prstGeom prst="rect">
            <a:avLst/>
          </a:prstGeom>
          <a:solidFill>
            <a:srgbClr val="102A50"/>
          </a:solidFill>
          <a:ln w="127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537667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53"/>
                </a:solidFill>
              </a:rPr>
              <a:t>Conclusão: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5760720"/>
            <a:ext cx="11064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8"/>
                </a:solidFill>
              </a:rPr>
              <a:t>No cenário stress combinado (pior caso), o Equity ainda entrega 18,3% — acima do CDI+3% (16,25%).
Sênior e Mezanino (yield fixo) não são afetados por nenhum cenário.
No cenário ACL forte (+3pp), o Equity pode chegar a 27,8% de IRR — não precificado no modelo base.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A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APÊNDICE — Riscos e Mitigações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11430000" cy="27432"/>
          </a:xfrm>
          <a:prstGeom prst="rect">
            <a:avLst/>
          </a:prstGeom>
          <a:solidFill>
            <a:srgbClr val="1E3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274320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624" y="1106424"/>
            <a:ext cx="263347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Risco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051560"/>
            <a:ext cx="11887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63824" y="1106424"/>
            <a:ext cx="10789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Prob.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51560"/>
            <a:ext cx="11887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1106424"/>
            <a:ext cx="107899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Impacto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051560"/>
            <a:ext cx="630936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1106424"/>
            <a:ext cx="6199632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F3A"/>
                </a:solidFill>
              </a:rPr>
              <a:t>Mitigação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435607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" y="1481328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ACL atrasa (regulação lenta)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1435607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3824" y="1481328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435607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1481328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1435607"/>
            <a:ext cx="63093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41264" y="1481328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Modelo funciona sem ACL — é upside, não tese base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783079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1828799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Degradação BESS &gt;2%/ano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1783079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63824" y="1828799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1783079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1828799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1783079"/>
            <a:ext cx="63093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41264" y="1828799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Garantia 90% capacidade; augmentação Ano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130552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" y="217627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FX no CAPEX importado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130552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3824" y="2176272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2130552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52544" y="2176272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2130552"/>
            <a:ext cx="63093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41264" y="2176272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Hedge NDF/swap 100% travado na assinatura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478024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" y="2523744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Inadimplência cliente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2478024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63824" y="25237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80" y="2478024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52544" y="25237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2478024"/>
            <a:ext cx="63093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1264" y="2523744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crédito; penhor SPE; seguro de crédito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2825496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" y="2871215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Regulatório (ANEEL/GD)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2825496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63824" y="2871215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97680" y="2825496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2871215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2825496"/>
            <a:ext cx="63093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1264" y="2871215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Marco Legal GD 14.300/2022: 25 anos de estabilidade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3172968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4" y="3218687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Concorrência acelera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3172968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63824" y="3218687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97680" y="3172968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52544" y="3218687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3172968"/>
            <a:ext cx="63093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41264" y="3218687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Moat: IA + dados + FIDC + WALE 12a + first-mover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3520440"/>
            <a:ext cx="274320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0624" y="3566160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Preço energia cai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3520440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63824" y="3566160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Muito baixa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0" y="3520440"/>
            <a:ext cx="118872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52544" y="3566160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Alto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0" y="3520440"/>
            <a:ext cx="6309360" cy="347472"/>
          </a:xfrm>
          <a:prstGeom prst="rect">
            <a:avLst/>
          </a:prstGeom>
          <a:solidFill>
            <a:srgbClr val="1E355A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41264" y="3566160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ACL + DCs sustentam pressão altista por 10+ anos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867912"/>
            <a:ext cx="274320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0624" y="391363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Data centers não usam BOT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3867912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63824" y="3913632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97680" y="3867912"/>
            <a:ext cx="118872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52544" y="3913632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Baixo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0" y="3867912"/>
            <a:ext cx="6309360" cy="347472"/>
          </a:xfrm>
          <a:prstGeom prst="rect">
            <a:avLst/>
          </a:prstGeom>
          <a:solidFill>
            <a:srgbClr val="102A50"/>
          </a:solidFill>
          <a:ln w="381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41264" y="3913632"/>
            <a:ext cx="6199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Pipeline C&amp;I tradicional sustenta crescimento até Ano 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0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C0"/>
                </a:solidFill>
              </a:rPr>
              <a:t>Confidencial | Solar + BESS Platform | Maio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